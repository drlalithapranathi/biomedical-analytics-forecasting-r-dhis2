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256" r:id="rId2"/>
    <p:sldId id="272" r:id="rId3"/>
    <p:sldId id="257" r:id="rId4"/>
    <p:sldId id="258" r:id="rId5"/>
    <p:sldId id="274" r:id="rId6"/>
    <p:sldId id="259" r:id="rId7"/>
    <p:sldId id="260" r:id="rId8"/>
    <p:sldId id="261" r:id="rId9"/>
    <p:sldId id="262" r:id="rId10"/>
    <p:sldId id="263" r:id="rId11"/>
    <p:sldId id="275" r:id="rId12"/>
    <p:sldId id="268" r:id="rId13"/>
    <p:sldId id="264" r:id="rId14"/>
    <p:sldId id="273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19BE8D8-CD03-F911-CA19-2F173B2A36E3}" name="Babb, Erica" initials="BE" userId="S::ecbabb@iu.edu::19949162-adcb-4d97-a2b2-e5f65e5bc02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5D60"/>
    <a:srgbClr val="F73437"/>
    <a:srgbClr val="ED799C"/>
    <a:srgbClr val="FC6291"/>
    <a:srgbClr val="F792B0"/>
    <a:srgbClr val="FA9B9D"/>
    <a:srgbClr val="F2D0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C05749-C722-43B4-91F0-C1CE6CB76F80}" v="29" dt="2025-10-09T21:48:14.65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78" y="10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F98B19-073F-4475-A378-A28BF3B13090}" type="datetimeFigureOut">
              <a:t>10/8/2025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93BD77-2BEF-485D-AFF7-C5105E26233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9367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corporate.target.com/jobs/w48/70/sr-data-scientist-stores-and-properties-applied-ml%2C-simulation?utm_source=chatgpt.com" TargetMode="External"/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tech.target.com/teams/data-sciences" TargetMode="External"/><Relationship Id="rId4" Type="http://schemas.openxmlformats.org/officeDocument/2006/relationships/hyperlink" Target="https://corporate.target.com/jobs/w85/08/senior-data-scientist-%E2%80%93-digital-fulfillment-t" TargetMode="Externa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corporate.target.com/jobs/w48/70/sr-data-scientist-stores-and-properties-applied-ml%2C-simulation?utm_source=chatgpt.com" TargetMode="External"/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tech.target.com/teams/data-sciences" TargetMode="External"/><Relationship Id="rId5" Type="http://schemas.openxmlformats.org/officeDocument/2006/relationships/hyperlink" Target="https://theorg.com/org/target/teams/data-analytics-and-engineering" TargetMode="External"/><Relationship Id="rId4" Type="http://schemas.openxmlformats.org/officeDocument/2006/relationships/hyperlink" Target="https://corporate.target.com/jobs/w85/08/senior-data-scientist-%E2%80%93-digital-fulfillment-t" TargetMode="Externa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corporate.target.com/jobs/w48/70/sr-data-scientist-stores-and-properties-applied-ml%2C-simulation?utm_source=chatgpt.com" TargetMode="External"/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tech.target.com/teams/data-sciences" TargetMode="External"/><Relationship Id="rId5" Type="http://schemas.openxmlformats.org/officeDocument/2006/relationships/hyperlink" Target="https://theorg.com/org/target/teams/data-analytics-and-engineering" TargetMode="External"/><Relationship Id="rId4" Type="http://schemas.openxmlformats.org/officeDocument/2006/relationships/hyperlink" Target="https://corporate.target.com/jobs/w85/08/senior-data-scientist-%E2%80%93-digital-fulfillment-t" TargetMode="Externa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Sr Data Scientist – Stores and Properties (applied ML, Simulation) Full-time Target job position: </a:t>
            </a:r>
            <a:r>
              <a:rPr lang="en-US">
                <a:hlinkClick r:id="rId3"/>
              </a:rPr>
              <a:t>https://corporate.target.com/jobs/w48/70/sr-data-scientist-stores-and-properties-applied-ml%2C-simulation</a:t>
            </a:r>
            <a:endParaRPr lang="en-US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  <a:p>
            <a:r>
              <a:rPr lang="en-US"/>
              <a:t>Senior Data Scientist – Digital Fulfillment Full-time Target job position: </a:t>
            </a:r>
            <a:r>
              <a:rPr lang="en-US">
                <a:hlinkClick r:id="rId4"/>
              </a:rPr>
              <a:t>https://corporate.target.com/jobs/w85/08/senior-data-scientist-%E2%80%93-digital-fulfillment-t</a:t>
            </a:r>
            <a:endParaRPr lang="en-US">
              <a:ea typeface="Calibri"/>
              <a:cs typeface="Calibri"/>
              <a:hlinkClick r:id="rId4"/>
            </a:endParaRPr>
          </a:p>
          <a:p>
            <a:endParaRPr lang="en-US">
              <a:ea typeface="Calibri"/>
              <a:cs typeface="Calibri"/>
            </a:endParaRPr>
          </a:p>
          <a:p>
            <a:r>
              <a:rPr lang="en-US">
                <a:hlinkClick r:id="rId5"/>
              </a:rPr>
              <a:t>https://tech.target.com/teams/data-sciences</a:t>
            </a:r>
            <a:endParaRPr lang="en-US">
              <a:ea typeface="Calibri"/>
              <a:cs typeface="Calibri"/>
              <a:hlinkClick r:id="rId5"/>
            </a:endParaRPr>
          </a:p>
          <a:p>
            <a:endParaRPr lang="en-US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93BD77-2BEF-485D-AFF7-C5105E262338}" type="slidenum"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771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C3DFB3-879C-E8E0-6BA5-E6CC018AE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6CD8DB-B7D6-E09C-1E9E-EC6AE26850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0B7A32-31ED-88B0-058D-9E7D096F4C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Sr Data Scientist – Stores and Properties (applied ML, Simulation) Full-time Target job position: </a:t>
            </a:r>
            <a:r>
              <a:rPr lang="en-US">
                <a:hlinkClick r:id="rId3"/>
              </a:rPr>
              <a:t>https://corporate.target.com/jobs/w48/70/sr-data-scientist-stores-and-properties-applied-ml%2C-simulation</a:t>
            </a:r>
            <a:endParaRPr lang="en-US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  <a:p>
            <a:r>
              <a:rPr lang="en-US"/>
              <a:t>Senior Data Scientist – Digital Fulfillment Full-time Target job position: </a:t>
            </a:r>
            <a:r>
              <a:rPr lang="en-US">
                <a:hlinkClick r:id="rId4"/>
              </a:rPr>
              <a:t>https://corporate.target.com/jobs/w85/08/senior-data-scientist-%E2%80%93-digital-fulfillment-t</a:t>
            </a:r>
            <a:endParaRPr lang="en-US">
              <a:ea typeface="Calibri"/>
              <a:cs typeface="Calibri"/>
              <a:hlinkClick r:id="rId4"/>
            </a:endParaRPr>
          </a:p>
          <a:p>
            <a:endParaRPr lang="en-US">
              <a:ea typeface="Calibri"/>
              <a:cs typeface="Calibri"/>
            </a:endParaRPr>
          </a:p>
          <a:p>
            <a:r>
              <a:rPr lang="en-US">
                <a:hlinkClick r:id="rId5"/>
              </a:rPr>
              <a:t>https://theorg.com/org/target/teams/data-analytics-and-engineering</a:t>
            </a:r>
            <a:endParaRPr lang="en-US"/>
          </a:p>
          <a:p>
            <a:endParaRPr lang="en-US"/>
          </a:p>
          <a:p>
            <a:endParaRPr lang="en-US"/>
          </a:p>
          <a:p>
            <a:r>
              <a:rPr lang="en-US">
                <a:hlinkClick r:id="rId6"/>
              </a:rPr>
              <a:t>https://tech.target.com/teams/data-sciences</a:t>
            </a:r>
            <a:endParaRPr lang="en-US">
              <a:ea typeface="Calibri"/>
              <a:cs typeface="Calibri"/>
              <a:hlinkClick r:id="rId6"/>
            </a:endParaRPr>
          </a:p>
          <a:p>
            <a:endParaRPr lang="en-US">
              <a:ea typeface="Calibri"/>
              <a:cs typeface="Calibri"/>
            </a:endParaRPr>
          </a:p>
          <a:p>
            <a:r>
              <a:rPr lang="en-US">
                <a:ea typeface="Calibri"/>
                <a:cs typeface="Calibri"/>
              </a:rPr>
              <a:t>Pg. 106 – figure 6-2</a:t>
            </a:r>
          </a:p>
          <a:p>
            <a:r>
              <a:rPr lang="en-US">
                <a:ea typeface="Calibri"/>
                <a:cs typeface="Calibri"/>
              </a:rPr>
              <a:t>Pg. 107 of text book talks about COE</a:t>
            </a:r>
          </a:p>
          <a:p>
            <a:endParaRPr lang="en-US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B0D3EF-4BCA-6F24-D408-D5BC4DE1DB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93BD77-2BEF-485D-AFF7-C5105E262338}" type="slidenum"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0572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58204F-F8A8-2FF0-826F-6A8A154BE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9C2E37-D784-0359-72B7-B2D8E99172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2C0D35-B5F7-EA0C-A745-04B099E8E2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Sr Data Scientist – Stores and Properties (applied ML, Simulation) Full-time Target job position: </a:t>
            </a:r>
            <a:r>
              <a:rPr lang="en-US">
                <a:hlinkClick r:id="rId3"/>
              </a:rPr>
              <a:t>https://corporate.target.com/jobs/w48/70/sr-data-scientist-stores-and-properties-applied-ml%2C-simulation</a:t>
            </a:r>
            <a:endParaRPr lang="en-US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  <a:p>
            <a:r>
              <a:rPr lang="en-US"/>
              <a:t>Senior Data Scientist – Digital Fulfillment Full-time Target job position: </a:t>
            </a:r>
            <a:r>
              <a:rPr lang="en-US">
                <a:hlinkClick r:id="rId4"/>
              </a:rPr>
              <a:t>https://corporate.target.com/jobs/w85/08/senior-data-scientist-%E2%80%93-digital-fulfillment-t</a:t>
            </a:r>
            <a:endParaRPr lang="en-US">
              <a:ea typeface="Calibri"/>
              <a:cs typeface="Calibri"/>
              <a:hlinkClick r:id="rId4"/>
            </a:endParaRPr>
          </a:p>
          <a:p>
            <a:endParaRPr lang="en-US">
              <a:ea typeface="Calibri"/>
              <a:cs typeface="Calibri"/>
            </a:endParaRPr>
          </a:p>
          <a:p>
            <a:r>
              <a:rPr lang="en-US">
                <a:hlinkClick r:id="rId5"/>
              </a:rPr>
              <a:t>https://theorg.com/org/target/teams/data-analytics-and-engineering</a:t>
            </a:r>
            <a:endParaRPr lang="en-US">
              <a:ea typeface="Calibri"/>
              <a:cs typeface="Calibri"/>
              <a:hlinkClick r:id="rId5"/>
            </a:endParaRPr>
          </a:p>
          <a:p>
            <a:endParaRPr lang="en-US">
              <a:ea typeface="Calibri"/>
              <a:cs typeface="Calibri"/>
            </a:endParaRPr>
          </a:p>
          <a:p>
            <a:endParaRPr lang="en-US"/>
          </a:p>
          <a:p>
            <a:r>
              <a:rPr lang="en-US">
                <a:hlinkClick r:id="rId6"/>
              </a:rPr>
              <a:t>https://tech.target.com/teams/data-sciences</a:t>
            </a:r>
            <a:endParaRPr lang="en-US">
              <a:ea typeface="Calibri"/>
              <a:cs typeface="Calibri"/>
              <a:hlinkClick r:id="rId6"/>
            </a:endParaRPr>
          </a:p>
          <a:p>
            <a:endParaRPr lang="en-US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BE7139-35AB-0C9C-615E-83A3E8FF8F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93BD77-2BEF-485D-AFF7-C5105E262338}" type="slidenum"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2058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AD3126-1404-6B8A-78EC-2CDFB1106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E9D94F-4ED3-2FB9-DCDA-C06807DC65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CC05F4-2C34-B8D9-007F-90359EDFED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Analytics at Work: Smarter Decisions, Better Results</a:t>
            </a:r>
          </a:p>
          <a:p>
            <a:r>
              <a:rPr lang="en-US" dirty="0"/>
              <a:t>by Thomas H. Davenport (Author), Jeanne G. Harris (Author), Robert Morison (Author)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52041D-BD11-A6AE-A24D-C2340C4465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93BD77-2BEF-485D-AFF7-C5105E262338}" type="slidenum"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522176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tech.target.com/blog/creating-certified-datasets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tech.target.com/blog/predictive-modeling-for-availability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tech.target.com/blog/predictive-modeling-for-availability" TargetMode="External"/><Relationship Id="rId7" Type="http://schemas.openxmlformats.org/officeDocument/2006/relationships/hyperlink" Target="https://corporate.target.com/jobs/w48/70/sr-data-scientist-stores-and-properties-applied-ml%2C-simulation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orporate.target.com/jobs/w85/08/senior-data-scientist-%E2%80%93-digital-fulfillment-t" TargetMode="External"/><Relationship Id="rId5" Type="http://schemas.openxmlformats.org/officeDocument/2006/relationships/hyperlink" Target="https://tech.target.com/teams/data-sciences" TargetMode="External"/><Relationship Id="rId4" Type="http://schemas.openxmlformats.org/officeDocument/2006/relationships/hyperlink" Target="https://theorg.com/org/target/teams/data-analytics-and-engineeri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6236F3-19C8-95DD-6FB9-354B46A2676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540" b="14536"/>
          <a:stretch>
            <a:fillRect/>
          </a:stretch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802880" y="1174493"/>
            <a:ext cx="4389120" cy="5683507"/>
          </a:xfrm>
          <a:noFill/>
        </p:spPr>
        <p:txBody>
          <a:bodyPr vert="horz" lIns="91440" tIns="45720" rIns="91440" bIns="45720" rtlCol="0" anchor="t">
            <a:noAutofit/>
          </a:bodyPr>
          <a:lstStyle/>
          <a:p>
            <a:pPr algn="l"/>
            <a:r>
              <a:rPr lang="en-US" sz="3600" b="1" dirty="0">
                <a:solidFill>
                  <a:srgbClr val="C00000"/>
                </a:solidFill>
                <a:latin typeface="+mj-lt"/>
                <a:ea typeface="Calibri"/>
                <a:cs typeface="Calibri"/>
              </a:rPr>
              <a:t>TARGET CASE STUDY</a:t>
            </a:r>
          </a:p>
          <a:p>
            <a:pPr algn="l"/>
            <a:endParaRPr lang="en-US" b="1" dirty="0">
              <a:solidFill>
                <a:srgbClr val="C00000"/>
              </a:solidFill>
              <a:latin typeface="+mj-lt"/>
              <a:ea typeface="Calibri"/>
              <a:cs typeface="Calibri"/>
            </a:endParaRPr>
          </a:p>
          <a:p>
            <a:pPr algn="l"/>
            <a:endParaRPr lang="en-US" b="1" dirty="0">
              <a:solidFill>
                <a:srgbClr val="C00000"/>
              </a:solidFill>
              <a:latin typeface="+mj-lt"/>
              <a:ea typeface="Calibri"/>
              <a:cs typeface="Calibri"/>
            </a:endParaRPr>
          </a:p>
          <a:p>
            <a:pPr algn="l"/>
            <a:endParaRPr lang="en-US" b="1" dirty="0">
              <a:solidFill>
                <a:srgbClr val="C00000"/>
              </a:solidFill>
              <a:latin typeface="+mj-lt"/>
              <a:ea typeface="Calibri"/>
              <a:cs typeface="Calibri"/>
            </a:endParaRPr>
          </a:p>
          <a:p>
            <a:pPr algn="l"/>
            <a:endParaRPr lang="en-US" b="1" dirty="0">
              <a:solidFill>
                <a:srgbClr val="C00000"/>
              </a:solidFill>
              <a:latin typeface="+mj-lt"/>
              <a:ea typeface="Calibri"/>
              <a:cs typeface="Calibri"/>
            </a:endParaRPr>
          </a:p>
          <a:p>
            <a:pPr algn="l"/>
            <a:endParaRPr lang="en-US" b="1" dirty="0">
              <a:solidFill>
                <a:srgbClr val="C00000"/>
              </a:solidFill>
              <a:latin typeface="+mj-lt"/>
              <a:ea typeface="Calibri"/>
              <a:cs typeface="Calibri"/>
            </a:endParaRPr>
          </a:p>
          <a:p>
            <a:pPr algn="l"/>
            <a:endParaRPr lang="en-US" b="1" dirty="0">
              <a:solidFill>
                <a:srgbClr val="C00000"/>
              </a:solidFill>
              <a:latin typeface="+mj-lt"/>
              <a:ea typeface="Calibri"/>
              <a:cs typeface="Calibri"/>
            </a:endParaRPr>
          </a:p>
          <a:p>
            <a:pPr algn="l"/>
            <a:r>
              <a:rPr lang="en-US" sz="2000" b="1" u="sng" dirty="0">
                <a:solidFill>
                  <a:srgbClr val="C00000"/>
                </a:solidFill>
                <a:latin typeface="+mj-lt"/>
                <a:ea typeface="Calibri"/>
                <a:cs typeface="Calibri"/>
              </a:rPr>
              <a:t>GROUP 3</a:t>
            </a:r>
          </a:p>
          <a:p>
            <a:pPr algn="l"/>
            <a:r>
              <a:rPr lang="en-US" sz="2000" b="1" dirty="0">
                <a:solidFill>
                  <a:srgbClr val="C00000"/>
                </a:solidFill>
                <a:latin typeface="+mj-lt"/>
                <a:ea typeface="Calibri"/>
                <a:cs typeface="Calibri"/>
              </a:rPr>
              <a:t>ERICA BABB</a:t>
            </a:r>
          </a:p>
          <a:p>
            <a:pPr algn="l"/>
            <a:r>
              <a:rPr lang="en-US" sz="2000" b="1" dirty="0">
                <a:solidFill>
                  <a:srgbClr val="C00000"/>
                </a:solidFill>
                <a:latin typeface="+mj-lt"/>
                <a:ea typeface="Calibri"/>
                <a:cs typeface="Calibri"/>
              </a:rPr>
              <a:t>HARITHA REDDY KARINGULA</a:t>
            </a:r>
          </a:p>
          <a:p>
            <a:pPr algn="l"/>
            <a:r>
              <a:rPr lang="en-US" sz="2000" b="1" dirty="0">
                <a:solidFill>
                  <a:srgbClr val="C00000"/>
                </a:solidFill>
                <a:latin typeface="+mj-lt"/>
                <a:ea typeface="Calibri"/>
                <a:cs typeface="Calibri"/>
              </a:rPr>
              <a:t>LALITHA PRANATHI PULAVARTHY</a:t>
            </a:r>
          </a:p>
          <a:p>
            <a:pPr algn="l"/>
            <a:r>
              <a:rPr lang="en-US" sz="2000" b="1" dirty="0">
                <a:solidFill>
                  <a:srgbClr val="C00000"/>
                </a:solidFill>
                <a:latin typeface="+mj-lt"/>
                <a:ea typeface="Calibri"/>
                <a:cs typeface="Calibri"/>
              </a:rPr>
              <a:t>ROSS ALAN PRATER</a:t>
            </a:r>
          </a:p>
          <a:p>
            <a:pPr algn="l"/>
            <a:r>
              <a:rPr lang="en-US" sz="2000" b="1" dirty="0">
                <a:solidFill>
                  <a:srgbClr val="C00000"/>
                </a:solidFill>
                <a:latin typeface="+mj-lt"/>
                <a:ea typeface="Calibri"/>
                <a:cs typeface="Calibri"/>
              </a:rPr>
              <a:t>YING LIU</a:t>
            </a:r>
          </a:p>
          <a:p>
            <a:pPr algn="l"/>
            <a:endParaRPr lang="en-US" sz="600" dirty="0">
              <a:solidFill>
                <a:srgbClr val="C00000"/>
              </a:solidFill>
              <a:latin typeface="+mj-lt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F83478-AD55-5D74-8609-E426BD737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07A73-624D-A1DE-34AE-3F0933008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400" b="1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3BB7B4-7B89-7123-D602-7F024AF32A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7451"/>
            <a:ext cx="10515600" cy="4351338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800" dirty="0">
                <a:ea typeface="+mn-lt"/>
                <a:cs typeface="+mn-lt"/>
              </a:rPr>
              <a:t>Retail leader leveraging data as a competitive weapon – among the earliest large-scale adopters of predictive analytics in consumer retail.</a:t>
            </a:r>
          </a:p>
          <a:p>
            <a:r>
              <a:rPr lang="en-US" sz="1800" dirty="0">
                <a:ea typeface="+mn-lt"/>
                <a:cs typeface="+mn-lt"/>
              </a:rPr>
              <a:t>Famous case: “Pregnancy Prediction Model” — used purchase data to infer life events and personalize marketing.</a:t>
            </a:r>
          </a:p>
          <a:p>
            <a:r>
              <a:rPr lang="en-US" sz="1800" dirty="0">
                <a:ea typeface="+mn-lt"/>
                <a:cs typeface="+mn-lt"/>
              </a:rPr>
              <a:t>Enterprise-wide analytics evolution – now spanning marketing, supply chain, fulfillment, and customer experience (“Endless Aisle,” omnichannel).</a:t>
            </a:r>
          </a:p>
          <a:p>
            <a:r>
              <a:rPr lang="en-US" sz="1800" dirty="0">
                <a:ea typeface="+mn-lt"/>
                <a:cs typeface="+mn-lt"/>
              </a:rPr>
              <a:t>Strategic alignment – analytics deeply embedded in operations, leadership, and culture through Centers of Excellence (Data, BI, Guest Insights).</a:t>
            </a:r>
          </a:p>
          <a:p>
            <a:r>
              <a:rPr lang="en-US" sz="1800" dirty="0">
                <a:ea typeface="+mn-lt"/>
                <a:cs typeface="+mn-lt"/>
              </a:rPr>
              <a:t>Ethical turning point – public privacy backlash shaped Target’s shift toward responsible, transparent data use.</a:t>
            </a:r>
          </a:p>
          <a:p>
            <a:r>
              <a:rPr lang="en-US" sz="1800" dirty="0">
                <a:ea typeface="+mn-lt"/>
                <a:cs typeface="+mn-lt"/>
              </a:rPr>
              <a:t>High DELTA maturity – Target exhibits traits of an Analytical Competitor (Stage 5), where analytics are pervasive, strategic, and enterprise-driven..</a:t>
            </a:r>
            <a:endParaRPr lang="en-US" dirty="0"/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4284079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47D6F-EFC4-5BA8-1603-A6137F551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C8F4BA0-4432-52B9-CB4D-46A2A01354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654680"/>
            <a:ext cx="9144000" cy="5609535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sz="4000">
              <a:latin typeface="Univers Condensed"/>
            </a:endParaRP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 b="1">
              <a:latin typeface="Univers Condensed"/>
            </a:endParaRPr>
          </a:p>
          <a:p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BEBDA08-7022-6EEF-2851-E6F8137FF7DD}"/>
              </a:ext>
            </a:extLst>
          </p:cNvPr>
          <p:cNvSpPr txBox="1"/>
          <p:nvPr/>
        </p:nvSpPr>
        <p:spPr>
          <a:xfrm>
            <a:off x="877762" y="524434"/>
            <a:ext cx="10433723" cy="276998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dirty="0"/>
              <a:t>WHAT IS DELTA?</a:t>
            </a:r>
          </a:p>
          <a:p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A framework for assessing and advancing analytics capability across enterprises, developed by the International Institute for Analytics (IIA).</a:t>
            </a:r>
            <a:endParaRPr lang="en-US" dirty="0"/>
          </a:p>
          <a:p>
            <a:pPr marL="285750" indent="-285750">
              <a:buFont typeface="Arial"/>
              <a:buChar char="•"/>
            </a:pPr>
            <a:endParaRPr lang="en-US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Key Principle</a:t>
            </a:r>
            <a:r>
              <a:rPr lang="en-US" dirty="0">
                <a:ea typeface="+mn-lt"/>
                <a:cs typeface="+mn-lt"/>
              </a:rPr>
              <a:t> - Emphasizing balanced advancement</a:t>
            </a:r>
          </a:p>
          <a:p>
            <a:endParaRPr lang="en-US" dirty="0">
              <a:ea typeface="+mn-lt"/>
              <a:cs typeface="+mn-lt"/>
            </a:endParaRPr>
          </a:p>
          <a:p>
            <a:endParaRPr lang="en-US" dirty="0">
              <a:ea typeface="+mn-lt"/>
              <a:cs typeface="+mn-lt"/>
            </a:endParaRPr>
          </a:p>
          <a:p>
            <a:endParaRPr lang="en-US" sz="1200" dirty="0">
              <a:ea typeface="+mn-lt"/>
              <a:cs typeface="+mn-lt"/>
            </a:endParaRPr>
          </a:p>
          <a:p>
            <a:endParaRPr lang="en-US" sz="1200" dirty="0">
              <a:ea typeface="+mn-lt"/>
              <a:cs typeface="+mn-lt"/>
            </a:endParaRPr>
          </a:p>
        </p:txBody>
      </p:sp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B7350A27-54B8-F741-348A-597540C8CC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09723"/>
              </p:ext>
            </p:extLst>
          </p:nvPr>
        </p:nvGraphicFramePr>
        <p:xfrm>
          <a:off x="850347" y="2573130"/>
          <a:ext cx="10529764" cy="32885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64882">
                  <a:extLst>
                    <a:ext uri="{9D8B030D-6E8A-4147-A177-3AD203B41FA5}">
                      <a16:colId xmlns:a16="http://schemas.microsoft.com/office/drawing/2014/main" val="457210718"/>
                    </a:ext>
                  </a:extLst>
                </a:gridCol>
                <a:gridCol w="5264882">
                  <a:extLst>
                    <a:ext uri="{9D8B030D-6E8A-4147-A177-3AD203B41FA5}">
                      <a16:colId xmlns:a16="http://schemas.microsoft.com/office/drawing/2014/main" val="2520214159"/>
                    </a:ext>
                  </a:extLst>
                </a:gridCol>
              </a:tblGrid>
              <a:tr h="657705">
                <a:tc>
                  <a:txBody>
                    <a:bodyPr/>
                    <a:lstStyle/>
                    <a:p>
                      <a:pPr lvl="4" algn="l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D</a:t>
                      </a:r>
                      <a:r>
                        <a:rPr lang="en-US" b="0" dirty="0">
                          <a:solidFill>
                            <a:schemeClr val="bg1"/>
                          </a:solidFill>
                        </a:rPr>
                        <a:t>ATA</a:t>
                      </a:r>
                    </a:p>
                  </a:txBody>
                  <a:tcPr anchor="ctr">
                    <a:solidFill>
                      <a:srgbClr val="F73437"/>
                    </a:solidFill>
                  </a:tcPr>
                </a:tc>
                <a:tc>
                  <a:txBody>
                    <a:bodyPr/>
                    <a:lstStyle/>
                    <a:p>
                      <a:pPr lvl="1" algn="l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chemeClr val="bg1"/>
                          </a:solidFill>
                          <a:latin typeface="Aptos"/>
                        </a:rPr>
                        <a:t>Accessible and high quality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F734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0143060"/>
                  </a:ext>
                </a:extLst>
              </a:tr>
              <a:tr h="657705">
                <a:tc>
                  <a:txBody>
                    <a:bodyPr/>
                    <a:lstStyle/>
                    <a:p>
                      <a:pPr lvl="4" algn="l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E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NTERPRISE</a:t>
                      </a:r>
                    </a:p>
                  </a:txBody>
                  <a:tcPr anchor="ctr">
                    <a:solidFill>
                      <a:srgbClr val="F73437"/>
                    </a:solidFill>
                  </a:tcPr>
                </a:tc>
                <a:tc>
                  <a:txBody>
                    <a:bodyPr/>
                    <a:lstStyle/>
                    <a:p>
                      <a:pPr lvl="1" algn="l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chemeClr val="bg1"/>
                          </a:solidFill>
                          <a:latin typeface="Aptos"/>
                        </a:rPr>
                        <a:t>Extent to which analytics are embedded across departments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F734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4568184"/>
                  </a:ext>
                </a:extLst>
              </a:tr>
              <a:tr h="657705">
                <a:tc>
                  <a:txBody>
                    <a:bodyPr/>
                    <a:lstStyle/>
                    <a:p>
                      <a:pPr lvl="4" algn="l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L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EADERSHIP</a:t>
                      </a:r>
                    </a:p>
                  </a:txBody>
                  <a:tcPr anchor="ctr">
                    <a:solidFill>
                      <a:srgbClr val="F73437"/>
                    </a:solidFill>
                  </a:tcPr>
                </a:tc>
                <a:tc>
                  <a:txBody>
                    <a:bodyPr/>
                    <a:lstStyle/>
                    <a:p>
                      <a:pPr lvl="1" algn="l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chemeClr val="bg1"/>
                          </a:solidFill>
                          <a:latin typeface="Aptos"/>
                        </a:rPr>
                        <a:t>Passion and Commitment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F734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0935955"/>
                  </a:ext>
                </a:extLst>
              </a:tr>
              <a:tr h="657705">
                <a:tc>
                  <a:txBody>
                    <a:bodyPr/>
                    <a:lstStyle/>
                    <a:p>
                      <a:pPr lvl="4" algn="l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T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ARGETS</a:t>
                      </a:r>
                    </a:p>
                  </a:txBody>
                  <a:tcPr anchor="ctr">
                    <a:solidFill>
                      <a:srgbClr val="F73437"/>
                    </a:solidFill>
                  </a:tcPr>
                </a:tc>
                <a:tc>
                  <a:txBody>
                    <a:bodyPr/>
                    <a:lstStyle/>
                    <a:p>
                      <a:pPr lvl="1" algn="l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chemeClr val="bg1"/>
                          </a:solidFill>
                          <a:latin typeface="Aptos"/>
                        </a:rPr>
                        <a:t>Specific, strategic, and high-value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F734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4285841"/>
                  </a:ext>
                </a:extLst>
              </a:tr>
              <a:tr h="657705">
                <a:tc>
                  <a:txBody>
                    <a:bodyPr/>
                    <a:lstStyle/>
                    <a:p>
                      <a:pPr lvl="4" algn="l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A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NALYSTS</a:t>
                      </a:r>
                    </a:p>
                  </a:txBody>
                  <a:tcPr anchor="ctr">
                    <a:solidFill>
                      <a:srgbClr val="F73437"/>
                    </a:solidFill>
                  </a:tcPr>
                </a:tc>
                <a:tc>
                  <a:txBody>
                    <a:bodyPr/>
                    <a:lstStyle/>
                    <a:p>
                      <a:pPr lvl="1" algn="l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chemeClr val="bg1"/>
                          </a:solidFill>
                          <a:latin typeface="Aptos"/>
                        </a:rPr>
                        <a:t>Professional and Amateurs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F734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62892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61792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Arrow: Pentagon 12">
            <a:extLst>
              <a:ext uri="{FF2B5EF4-FFF2-40B4-BE49-F238E27FC236}">
                <a16:creationId xmlns:a16="http://schemas.microsoft.com/office/drawing/2014/main" id="{E18BAAFE-69AE-EFF6-E626-1FA3F5FCB9B0}"/>
              </a:ext>
            </a:extLst>
          </p:cNvPr>
          <p:cNvSpPr/>
          <p:nvPr/>
        </p:nvSpPr>
        <p:spPr>
          <a:xfrm rot="-5400000">
            <a:off x="4761509" y="4861087"/>
            <a:ext cx="1926605" cy="1413090"/>
          </a:xfrm>
          <a:prstGeom prst="homePlate">
            <a:avLst/>
          </a:prstGeom>
          <a:solidFill>
            <a:srgbClr val="F2D0D6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rgbClr val="000000"/>
                </a:solidFill>
              </a:rPr>
              <a:t>Analytical</a:t>
            </a:r>
            <a:endParaRPr lang="en-US" sz="1600">
              <a:solidFill>
                <a:srgbClr val="FFFFFF"/>
              </a:solidFill>
            </a:endParaRPr>
          </a:p>
          <a:p>
            <a:pPr algn="ctr"/>
            <a:r>
              <a:rPr lang="en-US" sz="1600">
                <a:solidFill>
                  <a:srgbClr val="000000"/>
                </a:solidFill>
              </a:rPr>
              <a:t>Beginner</a:t>
            </a:r>
            <a:endParaRPr lang="en-US" sz="1600"/>
          </a:p>
        </p:txBody>
      </p:sp>
      <p:sp>
        <p:nvSpPr>
          <p:cNvPr id="14" name="Arrow: Pentagon 13">
            <a:extLst>
              <a:ext uri="{FF2B5EF4-FFF2-40B4-BE49-F238E27FC236}">
                <a16:creationId xmlns:a16="http://schemas.microsoft.com/office/drawing/2014/main" id="{9CD0CC38-3F4D-440F-EEED-7A20BAF97DC2}"/>
              </a:ext>
            </a:extLst>
          </p:cNvPr>
          <p:cNvSpPr/>
          <p:nvPr/>
        </p:nvSpPr>
        <p:spPr>
          <a:xfrm rot="-5400000">
            <a:off x="5716770" y="4402781"/>
            <a:ext cx="2843214" cy="1413090"/>
          </a:xfrm>
          <a:prstGeom prst="homePlate">
            <a:avLst/>
          </a:prstGeom>
          <a:solidFill>
            <a:srgbClr val="FA9B9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>
                <a:latin typeface="Aptos"/>
                <a:cs typeface="Segoe UI"/>
              </a:rPr>
              <a:t>Localized Analytics</a:t>
            </a:r>
            <a:endParaRPr lang="en-US"/>
          </a:p>
        </p:txBody>
      </p:sp>
      <p:sp>
        <p:nvSpPr>
          <p:cNvPr id="15" name="Arrow: Pentagon 14">
            <a:extLst>
              <a:ext uri="{FF2B5EF4-FFF2-40B4-BE49-F238E27FC236}">
                <a16:creationId xmlns:a16="http://schemas.microsoft.com/office/drawing/2014/main" id="{5FE98FE5-0232-7F9E-06FE-7F7E4EF34E70}"/>
              </a:ext>
            </a:extLst>
          </p:cNvPr>
          <p:cNvSpPr/>
          <p:nvPr/>
        </p:nvSpPr>
        <p:spPr>
          <a:xfrm rot="-5400000">
            <a:off x="6710685" y="3994173"/>
            <a:ext cx="3671471" cy="1402047"/>
          </a:xfrm>
          <a:prstGeom prst="homePlate">
            <a:avLst/>
          </a:prstGeom>
          <a:solidFill>
            <a:srgbClr val="FC629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Analytical Aspirations</a:t>
            </a:r>
          </a:p>
        </p:txBody>
      </p:sp>
      <p:sp>
        <p:nvSpPr>
          <p:cNvPr id="16" name="Arrow: Pentagon 15">
            <a:extLst>
              <a:ext uri="{FF2B5EF4-FFF2-40B4-BE49-F238E27FC236}">
                <a16:creationId xmlns:a16="http://schemas.microsoft.com/office/drawing/2014/main" id="{0A379F5D-58F6-ECB1-2FDD-9E1828FB7EF5}"/>
              </a:ext>
            </a:extLst>
          </p:cNvPr>
          <p:cNvSpPr/>
          <p:nvPr/>
        </p:nvSpPr>
        <p:spPr>
          <a:xfrm rot="16200000">
            <a:off x="7510640" y="3414388"/>
            <a:ext cx="4853126" cy="1379961"/>
          </a:xfrm>
          <a:prstGeom prst="homePlate">
            <a:avLst/>
          </a:prstGeom>
          <a:solidFill>
            <a:srgbClr val="F55D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Analytical Companies</a:t>
            </a:r>
          </a:p>
        </p:txBody>
      </p:sp>
      <p:sp>
        <p:nvSpPr>
          <p:cNvPr id="17" name="Arrow: Pentagon 16">
            <a:extLst>
              <a:ext uri="{FF2B5EF4-FFF2-40B4-BE49-F238E27FC236}">
                <a16:creationId xmlns:a16="http://schemas.microsoft.com/office/drawing/2014/main" id="{99F44DEA-61D0-ECAF-E85B-465FE0BF3072}"/>
              </a:ext>
            </a:extLst>
          </p:cNvPr>
          <p:cNvSpPr/>
          <p:nvPr/>
        </p:nvSpPr>
        <p:spPr>
          <a:xfrm rot="-5400000">
            <a:off x="8289903" y="2856691"/>
            <a:ext cx="6012690" cy="1335789"/>
          </a:xfrm>
          <a:prstGeom prst="homePlat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Analytical Competitors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142D19C-DB60-1761-3D2C-02ED0F81CCDC}"/>
              </a:ext>
            </a:extLst>
          </p:cNvPr>
          <p:cNvSpPr txBox="1"/>
          <p:nvPr/>
        </p:nvSpPr>
        <p:spPr>
          <a:xfrm>
            <a:off x="358832" y="565849"/>
            <a:ext cx="7645876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ea typeface="+mn-lt"/>
                <a:cs typeface="+mn-lt"/>
              </a:rPr>
              <a:t>Target’s Place on the DELTA Continuum</a:t>
            </a:r>
            <a:endParaRPr lang="en-US" sz="2400" b="1" dirty="0"/>
          </a:p>
        </p:txBody>
      </p:sp>
      <p:sp>
        <p:nvSpPr>
          <p:cNvPr id="22" name="TextBox 19">
            <a:extLst>
              <a:ext uri="{FF2B5EF4-FFF2-40B4-BE49-F238E27FC236}">
                <a16:creationId xmlns:a16="http://schemas.microsoft.com/office/drawing/2014/main" id="{2A1719CA-6873-89E2-15ED-08FAD643174D}"/>
              </a:ext>
            </a:extLst>
          </p:cNvPr>
          <p:cNvSpPr txBox="1"/>
          <p:nvPr/>
        </p:nvSpPr>
        <p:spPr>
          <a:xfrm>
            <a:off x="5189259" y="5299669"/>
            <a:ext cx="1035091" cy="104889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/>
          </a:p>
        </p:txBody>
      </p:sp>
      <p:sp>
        <p:nvSpPr>
          <p:cNvPr id="23" name="TextBox 19">
            <a:extLst>
              <a:ext uri="{FF2B5EF4-FFF2-40B4-BE49-F238E27FC236}">
                <a16:creationId xmlns:a16="http://schemas.microsoft.com/office/drawing/2014/main" id="{AAE3A5CE-7726-CD4D-AE5F-341AF5F81341}"/>
              </a:ext>
            </a:extLst>
          </p:cNvPr>
          <p:cNvSpPr txBox="1"/>
          <p:nvPr/>
        </p:nvSpPr>
        <p:spPr>
          <a:xfrm>
            <a:off x="5189259" y="5299669"/>
            <a:ext cx="1035091" cy="104889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/>
          </a:p>
        </p:txBody>
      </p:sp>
      <p:sp>
        <p:nvSpPr>
          <p:cNvPr id="24" name="TextBox 19">
            <a:extLst>
              <a:ext uri="{FF2B5EF4-FFF2-40B4-BE49-F238E27FC236}">
                <a16:creationId xmlns:a16="http://schemas.microsoft.com/office/drawing/2014/main" id="{0DBF701C-3BDD-849D-7BBF-598E40D19D1A}"/>
              </a:ext>
            </a:extLst>
          </p:cNvPr>
          <p:cNvSpPr txBox="1"/>
          <p:nvPr/>
        </p:nvSpPr>
        <p:spPr>
          <a:xfrm>
            <a:off x="5189259" y="5299669"/>
            <a:ext cx="1035091" cy="104889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/>
          </a:p>
        </p:txBody>
      </p:sp>
      <p:sp>
        <p:nvSpPr>
          <p:cNvPr id="27" name="TextBox 19">
            <a:extLst>
              <a:ext uri="{FF2B5EF4-FFF2-40B4-BE49-F238E27FC236}">
                <a16:creationId xmlns:a16="http://schemas.microsoft.com/office/drawing/2014/main" id="{06FF6985-8180-D189-EFDE-52DE32A76B88}"/>
              </a:ext>
            </a:extLst>
          </p:cNvPr>
          <p:cNvSpPr txBox="1"/>
          <p:nvPr/>
        </p:nvSpPr>
        <p:spPr>
          <a:xfrm>
            <a:off x="5189259" y="5299669"/>
            <a:ext cx="1035091" cy="104889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3764622-E68F-A503-22E4-435043C46452}"/>
              </a:ext>
            </a:extLst>
          </p:cNvPr>
          <p:cNvSpPr txBox="1"/>
          <p:nvPr/>
        </p:nvSpPr>
        <p:spPr>
          <a:xfrm>
            <a:off x="358806" y="1565091"/>
            <a:ext cx="4333583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Each stage represents increasing data sophistication, governance, and strategic integration.</a:t>
            </a:r>
            <a:endParaRPr lang="en-US" dirty="0"/>
          </a:p>
          <a:p>
            <a:pPr marL="285750" indent="-285750">
              <a:buFont typeface="Arial"/>
              <a:buChar char="•"/>
            </a:pPr>
            <a:endParaRPr lang="en-US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endParaRPr lang="en-US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In the next few slides, we’ll analyze where Target stands within this continuum using the DELTA framework.</a:t>
            </a:r>
            <a:endParaRPr lang="en-US" dirty="0"/>
          </a:p>
          <a:p>
            <a:pPr algn="l"/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2912127-EF3D-4173-5A72-9602BD767986}"/>
              </a:ext>
            </a:extLst>
          </p:cNvPr>
          <p:cNvSpPr txBox="1"/>
          <p:nvPr/>
        </p:nvSpPr>
        <p:spPr>
          <a:xfrm>
            <a:off x="1482482" y="6169220"/>
            <a:ext cx="423697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Five Stages of the DELTA model</a:t>
            </a:r>
          </a:p>
        </p:txBody>
      </p:sp>
    </p:spTree>
    <p:extLst>
      <p:ext uri="{BB962C8B-B14F-4D97-AF65-F5344CB8AC3E}">
        <p14:creationId xmlns:p14="http://schemas.microsoft.com/office/powerpoint/2010/main" val="282659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30" grpId="0"/>
      <p:bldP spid="3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BB0793-40F2-AA26-5E81-8FE53D7B1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rrow: Pentagon 2">
            <a:extLst>
              <a:ext uri="{FF2B5EF4-FFF2-40B4-BE49-F238E27FC236}">
                <a16:creationId xmlns:a16="http://schemas.microsoft.com/office/drawing/2014/main" id="{6FFD51F5-92A7-F0F3-F4FE-48E0C616646E}"/>
              </a:ext>
            </a:extLst>
          </p:cNvPr>
          <p:cNvSpPr/>
          <p:nvPr/>
        </p:nvSpPr>
        <p:spPr>
          <a:xfrm>
            <a:off x="0" y="150932"/>
            <a:ext cx="6012690" cy="1335789"/>
          </a:xfrm>
          <a:prstGeom prst="homePlat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3510C17-7E44-27A6-8ECD-01667170DDA0}"/>
              </a:ext>
            </a:extLst>
          </p:cNvPr>
          <p:cNvSpPr txBox="1"/>
          <p:nvPr/>
        </p:nvSpPr>
        <p:spPr>
          <a:xfrm>
            <a:off x="358832" y="565849"/>
            <a:ext cx="7645876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ea typeface="+mn-lt"/>
                <a:cs typeface="+mn-lt"/>
              </a:rPr>
              <a:t>DELTA Rubric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22" name="TextBox 19">
            <a:extLst>
              <a:ext uri="{FF2B5EF4-FFF2-40B4-BE49-F238E27FC236}">
                <a16:creationId xmlns:a16="http://schemas.microsoft.com/office/drawing/2014/main" id="{DAFDE6A8-E5BD-3C10-2DC9-328A4EB45961}"/>
              </a:ext>
            </a:extLst>
          </p:cNvPr>
          <p:cNvSpPr txBox="1"/>
          <p:nvPr/>
        </p:nvSpPr>
        <p:spPr>
          <a:xfrm>
            <a:off x="5189259" y="5299669"/>
            <a:ext cx="1035091" cy="104889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/>
          </a:p>
        </p:txBody>
      </p:sp>
      <p:sp>
        <p:nvSpPr>
          <p:cNvPr id="23" name="TextBox 19">
            <a:extLst>
              <a:ext uri="{FF2B5EF4-FFF2-40B4-BE49-F238E27FC236}">
                <a16:creationId xmlns:a16="http://schemas.microsoft.com/office/drawing/2014/main" id="{60306809-CE39-6653-F931-2EB577D5A098}"/>
              </a:ext>
            </a:extLst>
          </p:cNvPr>
          <p:cNvSpPr txBox="1"/>
          <p:nvPr/>
        </p:nvSpPr>
        <p:spPr>
          <a:xfrm>
            <a:off x="5189259" y="5299669"/>
            <a:ext cx="1035091" cy="104889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/>
          </a:p>
        </p:txBody>
      </p:sp>
      <p:sp>
        <p:nvSpPr>
          <p:cNvPr id="24" name="TextBox 19">
            <a:extLst>
              <a:ext uri="{FF2B5EF4-FFF2-40B4-BE49-F238E27FC236}">
                <a16:creationId xmlns:a16="http://schemas.microsoft.com/office/drawing/2014/main" id="{92CADA3C-0BC9-1724-1293-4F8BDD4F6205}"/>
              </a:ext>
            </a:extLst>
          </p:cNvPr>
          <p:cNvSpPr txBox="1"/>
          <p:nvPr/>
        </p:nvSpPr>
        <p:spPr>
          <a:xfrm>
            <a:off x="5189259" y="5299669"/>
            <a:ext cx="1035091" cy="104889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/>
          </a:p>
        </p:txBody>
      </p:sp>
      <p:sp>
        <p:nvSpPr>
          <p:cNvPr id="27" name="TextBox 19">
            <a:extLst>
              <a:ext uri="{FF2B5EF4-FFF2-40B4-BE49-F238E27FC236}">
                <a16:creationId xmlns:a16="http://schemas.microsoft.com/office/drawing/2014/main" id="{EF491854-45ED-2F47-BDEF-DBE0D02157C8}"/>
              </a:ext>
            </a:extLst>
          </p:cNvPr>
          <p:cNvSpPr txBox="1"/>
          <p:nvPr/>
        </p:nvSpPr>
        <p:spPr>
          <a:xfrm>
            <a:off x="5189259" y="5299669"/>
            <a:ext cx="1035091" cy="104889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4E0D412-9251-97BE-35A0-C586FDCDFF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3051" y="457200"/>
            <a:ext cx="5185564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287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FE382-E7C8-889D-ABE4-138241912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400" b="1" dirty="0"/>
              <a:t>D-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9EDF28-B95F-22AA-FAAB-7CD33EA607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7451"/>
            <a:ext cx="10515600" cy="4351338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800" dirty="0">
                <a:ea typeface="+mn-lt"/>
                <a:cs typeface="+mn-lt"/>
              </a:rPr>
              <a:t>Target manages petabytes of enterprise data through a centralized Analytical Platform Architecture. </a:t>
            </a:r>
            <a:endParaRPr lang="en-US" sz="1800" i="1" dirty="0">
              <a:ea typeface="+mn-lt"/>
              <a:cs typeface="+mn-lt"/>
            </a:endParaRPr>
          </a:p>
          <a:p>
            <a:r>
              <a:rPr lang="en-US" sz="1800" dirty="0">
                <a:ea typeface="+mn-lt"/>
                <a:cs typeface="+mn-lt"/>
              </a:rPr>
              <a:t>Identified earlier issues: duplicate data, inconsistent pipelines, weak governance, and lack of visibility. </a:t>
            </a:r>
            <a:endParaRPr lang="en-US" dirty="0"/>
          </a:p>
          <a:p>
            <a:r>
              <a:rPr lang="en-US" sz="1800" dirty="0">
                <a:ea typeface="+mn-lt"/>
                <a:cs typeface="+mn-lt"/>
              </a:rPr>
              <a:t>Built a data pipeline framework using Apache Spark and Scala, enabling certified, trusted datasets for all departments. </a:t>
            </a:r>
            <a:endParaRPr lang="en-US" dirty="0"/>
          </a:p>
          <a:p>
            <a:r>
              <a:rPr lang="en-US" sz="1800" dirty="0">
                <a:ea typeface="+mn-lt"/>
                <a:cs typeface="+mn-lt"/>
              </a:rPr>
              <a:t>Introduced </a:t>
            </a:r>
            <a:r>
              <a:rPr lang="en-US" sz="1800" b="1" dirty="0">
                <a:ea typeface="+mn-lt"/>
                <a:cs typeface="+mn-lt"/>
              </a:rPr>
              <a:t>Atomic History → Core History → Aggregations → Analytical Datasets (ADS) model</a:t>
            </a:r>
            <a:r>
              <a:rPr lang="en-US" sz="1800" dirty="0">
                <a:ea typeface="+mn-lt"/>
                <a:cs typeface="+mn-lt"/>
              </a:rPr>
              <a:t> to ensure data lineage, quality, and traceability. </a:t>
            </a:r>
            <a:endParaRPr lang="en-US" dirty="0"/>
          </a:p>
          <a:p>
            <a:r>
              <a:rPr lang="en-US" sz="1800" dirty="0">
                <a:solidFill>
                  <a:srgbClr val="FF0000"/>
                </a:solidFill>
                <a:ea typeface="+mn-lt"/>
                <a:cs typeface="+mn-lt"/>
              </a:rPr>
              <a:t>Certified Datasets guarantee reliability and are used for analytics, AI modeling, and business reporting across the enterprise. 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sz="1800" dirty="0">
                <a:ea typeface="+mn-lt"/>
                <a:cs typeface="+mn-lt"/>
              </a:rPr>
              <a:t>Maintains </a:t>
            </a:r>
            <a:r>
              <a:rPr lang="en-US" sz="1800" b="1" dirty="0">
                <a:ea typeface="+mn-lt"/>
                <a:cs typeface="+mn-lt"/>
              </a:rPr>
              <a:t>8 TB </a:t>
            </a:r>
            <a:r>
              <a:rPr lang="en-US" sz="1800" dirty="0">
                <a:ea typeface="+mn-lt"/>
                <a:cs typeface="+mn-lt"/>
              </a:rPr>
              <a:t>of data daily, with </a:t>
            </a:r>
            <a:r>
              <a:rPr lang="en-US" sz="1800" b="1" dirty="0">
                <a:ea typeface="+mn-lt"/>
                <a:cs typeface="+mn-lt"/>
              </a:rPr>
              <a:t>1M+ queries</a:t>
            </a:r>
            <a:r>
              <a:rPr lang="en-US" sz="1800" dirty="0">
                <a:ea typeface="+mn-lt"/>
                <a:cs typeface="+mn-lt"/>
              </a:rPr>
              <a:t> and </a:t>
            </a:r>
            <a:r>
              <a:rPr lang="en-US" sz="1800" b="1" dirty="0">
                <a:ea typeface="+mn-lt"/>
                <a:cs typeface="+mn-lt"/>
              </a:rPr>
              <a:t>4,000+ pipelines </a:t>
            </a:r>
            <a:r>
              <a:rPr lang="en-US" sz="1800" dirty="0">
                <a:ea typeface="+mn-lt"/>
                <a:cs typeface="+mn-lt"/>
              </a:rPr>
              <a:t>supported by Data Site Reliability Engineering (SRE) teams for monitoring and compliance. </a:t>
            </a:r>
            <a:endParaRPr lang="en-US" dirty="0"/>
          </a:p>
          <a:p>
            <a:r>
              <a:rPr lang="en-US" sz="1800" dirty="0">
                <a:ea typeface="+mn-lt"/>
                <a:cs typeface="+mn-lt"/>
              </a:rPr>
              <a:t>Data governance strengthened through clear ownership, access control, and audit policies. </a:t>
            </a:r>
            <a:endParaRPr lang="en-US" dirty="0"/>
          </a:p>
          <a:p>
            <a:r>
              <a:rPr lang="en-US" sz="1800" b="1" dirty="0">
                <a:ea typeface="+mn-lt"/>
                <a:cs typeface="+mn-lt"/>
              </a:rPr>
              <a:t>Result</a:t>
            </a:r>
            <a:r>
              <a:rPr lang="en-US" sz="1800" dirty="0">
                <a:ea typeface="+mn-lt"/>
                <a:cs typeface="+mn-lt"/>
              </a:rPr>
              <a:t>: consistent, reusable, scalable, and high-quality data driving Target’s data-driven culture.</a:t>
            </a:r>
            <a:endParaRPr lang="en-US" dirty="0"/>
          </a:p>
          <a:p>
            <a:endParaRPr lang="en-US" sz="1800" dirty="0"/>
          </a:p>
          <a:p>
            <a:pPr marL="0" indent="0">
              <a:buNone/>
            </a:pPr>
            <a:r>
              <a:rPr lang="en-US" sz="1800" i="1" dirty="0"/>
              <a:t>Source: </a:t>
            </a:r>
            <a:r>
              <a:rPr lang="en-US" sz="1800" i="1" dirty="0">
                <a:ea typeface="+mn-lt"/>
                <a:cs typeface="+mn-lt"/>
                <a:hlinkClick r:id="rId2"/>
              </a:rPr>
              <a:t>https://tech.target.com/blog/creating-certified-datasets</a:t>
            </a:r>
            <a:endParaRPr lang="en-US" sz="1800" i="1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964193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8F5C6A-9367-63EB-4B67-84F64A72D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CAF8D-12A0-C77F-D1B7-40DD4357B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184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/>
              <a:t>E- </a:t>
            </a:r>
            <a:r>
              <a:rPr lang="en-US" sz="2400" b="1" dirty="0">
                <a:ea typeface="+mj-lt"/>
                <a:cs typeface="+mj-lt"/>
              </a:rPr>
              <a:t>ENTERPRISE</a:t>
            </a:r>
            <a:endParaRPr lang="en-US" sz="2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4FC67-543D-C0E8-5E43-04F42CC82F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7347" y="1045598"/>
            <a:ext cx="10515600" cy="4351338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800" dirty="0">
                <a:ea typeface="+mn-lt"/>
                <a:cs typeface="+mn-lt"/>
              </a:rPr>
              <a:t>Analytics embedded across all business areas from marketing and guest insights to supply chain, fulfillment, and store operations. </a:t>
            </a:r>
          </a:p>
          <a:p>
            <a:r>
              <a:rPr lang="en-US" sz="1800" dirty="0">
                <a:ea typeface="+mn-lt"/>
                <a:cs typeface="+mn-lt"/>
              </a:rPr>
              <a:t>The Data Sciences team collaborates enterprise-wide, building certified datasets and predictive models accessible to all departments. </a:t>
            </a:r>
            <a:endParaRPr lang="en-US" dirty="0">
              <a:ea typeface="+mn-lt"/>
              <a:cs typeface="+mn-lt"/>
            </a:endParaRPr>
          </a:p>
          <a:p>
            <a:r>
              <a:rPr lang="en-US" sz="1800" dirty="0">
                <a:solidFill>
                  <a:srgbClr val="FF0000"/>
                </a:solidFill>
                <a:ea typeface="+mn-lt"/>
                <a:cs typeface="+mn-lt"/>
              </a:rPr>
              <a:t>Developed enterprise-scale predictive modeling (e.g., </a:t>
            </a:r>
            <a:r>
              <a:rPr lang="en-US" sz="1800" i="1" dirty="0">
                <a:solidFill>
                  <a:srgbClr val="FF0000"/>
                </a:solidFill>
                <a:ea typeface="+mn-lt"/>
                <a:cs typeface="+mn-lt"/>
              </a:rPr>
              <a:t>Inventory-Not-Found (INF)</a:t>
            </a:r>
            <a:r>
              <a:rPr lang="en-US" sz="1800" dirty="0">
                <a:solidFill>
                  <a:srgbClr val="FF0000"/>
                </a:solidFill>
                <a:ea typeface="+mn-lt"/>
                <a:cs typeface="+mn-lt"/>
              </a:rPr>
              <a:t> model) to optimize product availability and fulfillment efficiency. </a:t>
            </a:r>
            <a:endParaRPr lang="en-US" dirty="0">
              <a:solidFill>
                <a:srgbClr val="FF0000"/>
              </a:solidFill>
              <a:ea typeface="+mn-lt"/>
              <a:cs typeface="+mn-lt"/>
            </a:endParaRPr>
          </a:p>
          <a:p>
            <a:r>
              <a:rPr lang="en-US" sz="1800" dirty="0">
                <a:ea typeface="+mn-lt"/>
                <a:cs typeface="+mn-lt"/>
              </a:rPr>
              <a:t>INF model runs </a:t>
            </a:r>
            <a:r>
              <a:rPr lang="en-US" sz="1800" b="1" dirty="0">
                <a:ea typeface="+mn-lt"/>
                <a:cs typeface="+mn-lt"/>
              </a:rPr>
              <a:t>~250 million</a:t>
            </a:r>
            <a:r>
              <a:rPr lang="en-US" sz="1800" dirty="0">
                <a:ea typeface="+mn-lt"/>
                <a:cs typeface="+mn-lt"/>
              </a:rPr>
              <a:t> predictions per day, directly integrated into Target’s order-allocation systems to improve inventory accuracy and delivery performance. </a:t>
            </a:r>
            <a:endParaRPr lang="en-US" dirty="0">
              <a:ea typeface="+mn-lt"/>
              <a:cs typeface="+mn-lt"/>
            </a:endParaRPr>
          </a:p>
          <a:p>
            <a:r>
              <a:rPr lang="en-US" sz="1800" dirty="0">
                <a:ea typeface="+mn-lt"/>
                <a:cs typeface="+mn-lt"/>
              </a:rPr>
              <a:t>Earlier initiatives like the Pregnancy Prediction Score unified marketing, loyalty, and sales data — demonstrating analytics alignment across functional silos. </a:t>
            </a:r>
            <a:endParaRPr lang="en-US" dirty="0">
              <a:ea typeface="+mn-lt"/>
              <a:cs typeface="+mn-lt"/>
            </a:endParaRPr>
          </a:p>
          <a:p>
            <a:r>
              <a:rPr lang="en-US" sz="1800" dirty="0">
                <a:ea typeface="+mn-lt"/>
                <a:cs typeface="+mn-lt"/>
              </a:rPr>
              <a:t>Enterprise-level data platforms, shared governance, and cross-functional collaboration ensure analytics consistency and scalability. </a:t>
            </a:r>
            <a:endParaRPr lang="en-US" dirty="0">
              <a:ea typeface="+mn-lt"/>
              <a:cs typeface="+mn-lt"/>
            </a:endParaRPr>
          </a:p>
          <a:p>
            <a:r>
              <a:rPr lang="en-US" sz="1800" dirty="0">
                <a:ea typeface="+mn-lt"/>
                <a:cs typeface="+mn-lt"/>
              </a:rPr>
              <a:t>Analytics outcomes directly influence operational, financial, and customer experience decisions organization-wide. </a:t>
            </a:r>
            <a:endParaRPr lang="en-US" dirty="0">
              <a:ea typeface="+mn-lt"/>
              <a:cs typeface="+mn-lt"/>
            </a:endParaRPr>
          </a:p>
          <a:p>
            <a:r>
              <a:rPr lang="en-US" sz="1800" dirty="0">
                <a:ea typeface="+mn-lt"/>
                <a:cs typeface="+mn-lt"/>
              </a:rPr>
              <a:t>Result: analytics is a core enterprise capability, driving Target’s transformation into a data-driven, agile organization.</a:t>
            </a:r>
          </a:p>
          <a:p>
            <a:pPr marL="0" indent="0">
              <a:buNone/>
            </a:pPr>
            <a:r>
              <a:rPr lang="en-US" sz="1800" i="1" dirty="0"/>
              <a:t>Source:  </a:t>
            </a:r>
            <a:r>
              <a:rPr lang="en-US" sz="1800" i="1" dirty="0">
                <a:ea typeface="+mn-lt"/>
                <a:cs typeface="+mn-lt"/>
              </a:rPr>
              <a:t>Target Case Study (Forbes, 2012); </a:t>
            </a:r>
            <a:r>
              <a:rPr lang="en-US" sz="1800" i="1" dirty="0">
                <a:ea typeface="+mn-lt"/>
                <a:cs typeface="+mn-lt"/>
                <a:hlinkClick r:id="rId2"/>
              </a:rPr>
              <a:t>https://tech.target.com/blog/predictive-modeling-for-availability</a:t>
            </a:r>
            <a:endParaRPr lang="en-US" sz="1800" i="1" dirty="0"/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8152035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3DC52-7CFE-93EA-44BD-E6C55A07A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34799-DE82-0907-580A-9B597A1155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400" b="1"/>
              <a:t>L- </a:t>
            </a:r>
            <a:r>
              <a:rPr lang="en-US" sz="2400" b="1">
                <a:ea typeface="+mj-lt"/>
                <a:cs typeface="+mj-lt"/>
              </a:rPr>
              <a:t>LEADERSHIP</a:t>
            </a:r>
            <a:endParaRPr lang="en-US" sz="2400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64F6C7-D523-D66E-6EA1-2A9B88DF57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7451"/>
            <a:ext cx="10515600" cy="4351338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800" dirty="0"/>
              <a:t>Target’s analytics success is driven by executive commitment to a data-driven culture.</a:t>
            </a:r>
          </a:p>
          <a:p>
            <a:r>
              <a:rPr lang="en-US" sz="1800" dirty="0"/>
              <a:t>The Chief Data &amp; Analytics Officer (CDAO) and senior leaders prioritize enterprise-wide adoption of analytics in decision-making.</a:t>
            </a:r>
          </a:p>
          <a:p>
            <a:r>
              <a:rPr lang="en-US" sz="1800" dirty="0"/>
              <a:t>Cross-functional data leadership teams (Data Science, SRE, Product Analytics) collaborate through the “Target Data Ecosystem.”</a:t>
            </a:r>
          </a:p>
          <a:p>
            <a:r>
              <a:rPr lang="en-US" sz="1800" dirty="0">
                <a:solidFill>
                  <a:srgbClr val="FF0000"/>
                </a:solidFill>
              </a:rPr>
              <a:t>Leaders promote a “test and learn” mindset, supporting experimentation and rapid feedback loops.</a:t>
            </a:r>
          </a:p>
          <a:p>
            <a:r>
              <a:rPr lang="en-US" sz="1800" dirty="0"/>
              <a:t>Analytics maturity is measured and reported to leadership regularly, ensuring accountability and continuous investment.</a:t>
            </a:r>
          </a:p>
          <a:p>
            <a:r>
              <a:rPr lang="en-US" sz="1800" b="1" dirty="0"/>
              <a:t>Result:</a:t>
            </a:r>
            <a:r>
              <a:rPr lang="en-US" sz="1800" dirty="0"/>
              <a:t> Leadership alignment enables sustained innovation and analytics integration across business units.</a:t>
            </a:r>
          </a:p>
        </p:txBody>
      </p:sp>
    </p:spTree>
    <p:extLst>
      <p:ext uri="{BB962C8B-B14F-4D97-AF65-F5344CB8AC3E}">
        <p14:creationId xmlns:p14="http://schemas.microsoft.com/office/powerpoint/2010/main" val="36084501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7C83B4-A8EE-9169-429D-5DBB36FB7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08DCD-E270-BFEE-77C2-FBED5EAF8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400" b="1" dirty="0"/>
              <a:t>T - TARGETS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DC43B1-D281-330B-538B-2F58A27C3F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7451"/>
            <a:ext cx="10515600" cy="4351338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800" dirty="0"/>
              <a:t>Target defines clear, measurable analytics goals aligned with strategic business outcomes.</a:t>
            </a:r>
            <a:endParaRPr lang="en-US"/>
          </a:p>
          <a:p>
            <a:r>
              <a:rPr lang="en-US" sz="1800" dirty="0"/>
              <a:t>Example initiatives: supply chain optimization, hyper-personalized marketing, real-time inventory visibility, and store operations forecasting.</a:t>
            </a:r>
          </a:p>
          <a:p>
            <a:r>
              <a:rPr lang="en-US" sz="1800" dirty="0"/>
              <a:t>Analytics teams use KPIs such as reduced stockouts, improved on-shelf availability, and increased digital conversion rates.</a:t>
            </a:r>
          </a:p>
          <a:p>
            <a:r>
              <a:rPr lang="en-US" sz="1800" dirty="0"/>
              <a:t>Quarterly “Analytics Targets Review” ensures data initiatives tie directly to ROI and customer satisfaction.</a:t>
            </a:r>
          </a:p>
          <a:p>
            <a:r>
              <a:rPr lang="en-US" sz="1800" b="1" dirty="0"/>
              <a:t>Result:</a:t>
            </a:r>
            <a:r>
              <a:rPr lang="en-US" sz="1800" dirty="0"/>
              <a:t> Quantifiable targets guide analytics priorities, enabling business value realization and competitive advantage.</a:t>
            </a:r>
          </a:p>
        </p:txBody>
      </p:sp>
    </p:spTree>
    <p:extLst>
      <p:ext uri="{BB962C8B-B14F-4D97-AF65-F5344CB8AC3E}">
        <p14:creationId xmlns:p14="http://schemas.microsoft.com/office/powerpoint/2010/main" val="31971422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57856F-AB2C-77B3-B9BB-66980B3A2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1DCAF-7245-246D-8D7B-1FB89A0F8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400" b="1"/>
              <a:t>A- ANALYSTS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1136FD-18A1-FF90-72F8-9F01753215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7451"/>
            <a:ext cx="10515600" cy="4998318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800" b="1"/>
              <a:t>High investment in data science: </a:t>
            </a:r>
            <a:r>
              <a:rPr lang="en-US" sz="1800">
                <a:ea typeface="+mn-lt"/>
                <a:cs typeface="+mn-lt"/>
              </a:rPr>
              <a:t>hiring for senior roles, competitive pay and advancing adoption of analytical and generative AI.</a:t>
            </a:r>
          </a:p>
          <a:p>
            <a:endParaRPr lang="en-US" sz="1800" b="1"/>
          </a:p>
          <a:p>
            <a:r>
              <a:rPr lang="en-US" sz="1800" b="1"/>
              <a:t>Specialized Data Sciences teams </a:t>
            </a:r>
            <a:r>
              <a:rPr lang="en-US" sz="1800"/>
              <a:t>build predictive models, optimize algorithms with machine learning, and validate solutions using  advanced AI methods.</a:t>
            </a:r>
            <a:endParaRPr lang="en-US"/>
          </a:p>
          <a:p>
            <a:endParaRPr lang="en-US" sz="1800">
              <a:ea typeface="+mn-lt"/>
              <a:cs typeface="+mn-lt"/>
            </a:endParaRPr>
          </a:p>
          <a:p>
            <a:r>
              <a:rPr lang="en-US" sz="1800">
                <a:ea typeface="+mn-lt"/>
                <a:cs typeface="+mn-lt"/>
              </a:rPr>
              <a:t>Analysts apply </a:t>
            </a:r>
            <a:r>
              <a:rPr lang="en-US" sz="1800" b="1">
                <a:ea typeface="+mn-lt"/>
                <a:cs typeface="+mn-lt"/>
              </a:rPr>
              <a:t>econometrics, optimization, and simulation</a:t>
            </a:r>
            <a:r>
              <a:rPr lang="en-US" sz="1800">
                <a:ea typeface="+mn-lt"/>
                <a:cs typeface="+mn-lt"/>
              </a:rPr>
              <a:t> to drive personalization (e.g., identifying pregnancy to personalize ads and coupons), fraud detection, automation, and inventory efficiency.</a:t>
            </a:r>
            <a:endParaRPr lang="en-US">
              <a:ea typeface="+mn-lt"/>
              <a:cs typeface="+mn-lt"/>
            </a:endParaRPr>
          </a:p>
          <a:p>
            <a:endParaRPr lang="en-US" sz="1800">
              <a:ea typeface="+mn-lt"/>
              <a:cs typeface="+mn-lt"/>
            </a:endParaRPr>
          </a:p>
          <a:p>
            <a:r>
              <a:rPr lang="en-US" sz="1800" b="1">
                <a:ea typeface="+mn-lt"/>
                <a:cs typeface="+mn-lt"/>
              </a:rPr>
              <a:t>Embedded across business units </a:t>
            </a:r>
            <a:r>
              <a:rPr lang="en-US" sz="1800">
                <a:ea typeface="+mn-lt"/>
                <a:cs typeface="+mn-lt"/>
              </a:rPr>
              <a:t>(marketing, supply chain, fulfillment), ensuring insights directly support revenue growth and operational improvements.</a:t>
            </a:r>
            <a:endParaRPr lang="en-US">
              <a:ea typeface="+mn-lt"/>
              <a:cs typeface="+mn-lt"/>
            </a:endParaRPr>
          </a:p>
          <a:p>
            <a:endParaRPr lang="en-US" sz="1800"/>
          </a:p>
          <a:p>
            <a:r>
              <a:rPr lang="en-US" sz="1800" i="1"/>
              <a:t>Example</a:t>
            </a:r>
            <a:r>
              <a:rPr lang="en-US" sz="1800"/>
              <a:t>: Supply Chain Data Science team </a:t>
            </a:r>
            <a:r>
              <a:rPr lang="en-US" sz="1800">
                <a:ea typeface="+mn-lt"/>
                <a:cs typeface="+mn-lt"/>
              </a:rPr>
              <a:t>determines optimal inventory quantities and placement across channels and locations, balancing cost efficiency with customer experience.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6903655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0DBFD9-19A0-55E4-BA8D-84387C55B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rrow: Pentagon 2">
            <a:extLst>
              <a:ext uri="{FF2B5EF4-FFF2-40B4-BE49-F238E27FC236}">
                <a16:creationId xmlns:a16="http://schemas.microsoft.com/office/drawing/2014/main" id="{A92D4819-7AA0-E22E-616B-FD3ABB1B25BB}"/>
              </a:ext>
            </a:extLst>
          </p:cNvPr>
          <p:cNvSpPr/>
          <p:nvPr/>
        </p:nvSpPr>
        <p:spPr>
          <a:xfrm>
            <a:off x="0" y="150932"/>
            <a:ext cx="6012690" cy="1335789"/>
          </a:xfrm>
          <a:prstGeom prst="homePlat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377B171-51FB-F963-7DD3-0D85E9C99EB0}"/>
              </a:ext>
            </a:extLst>
          </p:cNvPr>
          <p:cNvSpPr txBox="1"/>
          <p:nvPr/>
        </p:nvSpPr>
        <p:spPr>
          <a:xfrm>
            <a:off x="358832" y="565849"/>
            <a:ext cx="7645876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ea typeface="+mn-lt"/>
                <a:cs typeface="+mn-lt"/>
              </a:rPr>
              <a:t>DELTA Rubric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22" name="TextBox 19">
            <a:extLst>
              <a:ext uri="{FF2B5EF4-FFF2-40B4-BE49-F238E27FC236}">
                <a16:creationId xmlns:a16="http://schemas.microsoft.com/office/drawing/2014/main" id="{9ED648EA-7BC9-8557-2AA5-2A86D8E88FB6}"/>
              </a:ext>
            </a:extLst>
          </p:cNvPr>
          <p:cNvSpPr txBox="1"/>
          <p:nvPr/>
        </p:nvSpPr>
        <p:spPr>
          <a:xfrm>
            <a:off x="5189259" y="5299669"/>
            <a:ext cx="1035091" cy="104889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/>
          </a:p>
        </p:txBody>
      </p:sp>
      <p:sp>
        <p:nvSpPr>
          <p:cNvPr id="23" name="TextBox 19">
            <a:extLst>
              <a:ext uri="{FF2B5EF4-FFF2-40B4-BE49-F238E27FC236}">
                <a16:creationId xmlns:a16="http://schemas.microsoft.com/office/drawing/2014/main" id="{9F2EA6C4-CD5C-513B-2A2B-B5D739C71943}"/>
              </a:ext>
            </a:extLst>
          </p:cNvPr>
          <p:cNvSpPr txBox="1"/>
          <p:nvPr/>
        </p:nvSpPr>
        <p:spPr>
          <a:xfrm>
            <a:off x="5189259" y="5299669"/>
            <a:ext cx="1035091" cy="104889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/>
          </a:p>
        </p:txBody>
      </p:sp>
      <p:sp>
        <p:nvSpPr>
          <p:cNvPr id="24" name="TextBox 19">
            <a:extLst>
              <a:ext uri="{FF2B5EF4-FFF2-40B4-BE49-F238E27FC236}">
                <a16:creationId xmlns:a16="http://schemas.microsoft.com/office/drawing/2014/main" id="{2C808931-1A1B-E9B0-0E88-23DC0B1FE55C}"/>
              </a:ext>
            </a:extLst>
          </p:cNvPr>
          <p:cNvSpPr txBox="1"/>
          <p:nvPr/>
        </p:nvSpPr>
        <p:spPr>
          <a:xfrm>
            <a:off x="5189259" y="5299669"/>
            <a:ext cx="1035091" cy="104889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/>
          </a:p>
        </p:txBody>
      </p:sp>
      <p:sp>
        <p:nvSpPr>
          <p:cNvPr id="27" name="TextBox 19">
            <a:extLst>
              <a:ext uri="{FF2B5EF4-FFF2-40B4-BE49-F238E27FC236}">
                <a16:creationId xmlns:a16="http://schemas.microsoft.com/office/drawing/2014/main" id="{527AFDB2-E950-19ED-3F62-2E812DD247DC}"/>
              </a:ext>
            </a:extLst>
          </p:cNvPr>
          <p:cNvSpPr txBox="1"/>
          <p:nvPr/>
        </p:nvSpPr>
        <p:spPr>
          <a:xfrm>
            <a:off x="5189259" y="5299669"/>
            <a:ext cx="1035091" cy="104889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3ECF36C-91D9-4F50-F4A2-69BCE0ABC9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3051" y="457200"/>
            <a:ext cx="5185564" cy="59436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5CDA100-E27D-27B9-F59E-E748C0EC1A7B}"/>
              </a:ext>
            </a:extLst>
          </p:cNvPr>
          <p:cNvSpPr/>
          <p:nvPr/>
        </p:nvSpPr>
        <p:spPr>
          <a:xfrm>
            <a:off x="10559562" y="1027514"/>
            <a:ext cx="879230" cy="98592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EA377CF-2A16-AD34-156C-EF6EA134F658}"/>
              </a:ext>
            </a:extLst>
          </p:cNvPr>
          <p:cNvSpPr/>
          <p:nvPr/>
        </p:nvSpPr>
        <p:spPr>
          <a:xfrm>
            <a:off x="10559562" y="2013438"/>
            <a:ext cx="879230" cy="72976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001F9DF-580E-EB43-B809-558BCECB3923}"/>
              </a:ext>
            </a:extLst>
          </p:cNvPr>
          <p:cNvSpPr/>
          <p:nvPr/>
        </p:nvSpPr>
        <p:spPr>
          <a:xfrm>
            <a:off x="10559562" y="2743200"/>
            <a:ext cx="879230" cy="5715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3278746-73A3-84C2-6760-271EE0C756A6}"/>
              </a:ext>
            </a:extLst>
          </p:cNvPr>
          <p:cNvSpPr/>
          <p:nvPr/>
        </p:nvSpPr>
        <p:spPr>
          <a:xfrm>
            <a:off x="10559562" y="3314700"/>
            <a:ext cx="879230" cy="72976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FC22BE6-F607-AC79-C8F7-573D2652F4D8}"/>
              </a:ext>
            </a:extLst>
          </p:cNvPr>
          <p:cNvSpPr/>
          <p:nvPr/>
        </p:nvSpPr>
        <p:spPr>
          <a:xfrm>
            <a:off x="10559562" y="4044462"/>
            <a:ext cx="879230" cy="5715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731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8BAB5A-356F-8DCE-930F-A54D7FEB1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EBCEF-FF4B-98F0-AB48-594EAD06E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400" b="1"/>
              <a:t>Center-of-Excellence (COE)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F0AC1E-01A2-07F8-DE4B-373C73B175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7451"/>
            <a:ext cx="6537985" cy="1477685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1800" b="1"/>
              <a:t>Analysts reside in major business units</a:t>
            </a:r>
            <a:r>
              <a:rPr lang="en-US" sz="1800"/>
              <a:t> (marketing, supply chain, fulfillment), applying models and insights in their domains.</a:t>
            </a:r>
            <a:endParaRPr lang="en-US"/>
          </a:p>
          <a:p>
            <a:endParaRPr lang="en-US" sz="1800"/>
          </a:p>
        </p:txBody>
      </p:sp>
      <p:pic>
        <p:nvPicPr>
          <p:cNvPr id="5" name="Picture 4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7E6A9AFC-9CE3-8A3E-8D6B-38E386D695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204" y="3130334"/>
            <a:ext cx="6534150" cy="1190625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ED7507E-FB24-6F50-A464-4A87DB557A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647" y="4752070"/>
            <a:ext cx="6534150" cy="1019175"/>
          </a:xfrm>
          <a:prstGeom prst="rect">
            <a:avLst/>
          </a:prstGeom>
        </p:spPr>
      </p:pic>
      <p:pic>
        <p:nvPicPr>
          <p:cNvPr id="4" name="Picture 3" descr="A group of squares with black text&#10;&#10;AI-generated content may be incorrect.">
            <a:extLst>
              <a:ext uri="{FF2B5EF4-FFF2-40B4-BE49-F238E27FC236}">
                <a16:creationId xmlns:a16="http://schemas.microsoft.com/office/drawing/2014/main" id="{898B6F8D-F476-536F-F6C8-6B123CCC37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7977" y="3423356"/>
            <a:ext cx="3708047" cy="2198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1160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BF10DB-AC95-590F-A01A-CB5316905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F0502-FFD0-ACC3-71E3-585AF1302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400" b="1"/>
              <a:t>Center-of-Excellence (COE)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E161A5-BCC9-7FD6-C0AB-AE29C796F1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7451"/>
            <a:ext cx="4937185" cy="3977526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285750" indent="-285750"/>
            <a:r>
              <a:rPr lang="en-US" sz="1800" b="1"/>
              <a:t>Analysts reside in major business units</a:t>
            </a:r>
            <a:r>
              <a:rPr lang="en-US" sz="1800"/>
              <a:t> (marketing, supply chain, fulfillment), applying models and insights in their domains.</a:t>
            </a:r>
            <a:endParaRPr lang="en-US"/>
          </a:p>
          <a:p>
            <a:pPr marL="285750" indent="-285750"/>
            <a:r>
              <a:rPr lang="en-US" sz="1800"/>
              <a:t>All analysts are members of the </a:t>
            </a:r>
            <a:r>
              <a:rPr lang="en-US" sz="1800" b="1"/>
              <a:t>Data Science and Engineering team </a:t>
            </a:r>
            <a:r>
              <a:rPr lang="en-US" sz="1800"/>
              <a:t>(COE).</a:t>
            </a:r>
          </a:p>
          <a:p>
            <a:endParaRPr lang="en-US" sz="1800"/>
          </a:p>
        </p:txBody>
      </p:sp>
      <p:pic>
        <p:nvPicPr>
          <p:cNvPr id="9" name="Picture 8" descr="A screenshot of a social media account&#10;&#10;AI-generated content may be incorrect.">
            <a:extLst>
              <a:ext uri="{FF2B5EF4-FFF2-40B4-BE49-F238E27FC236}">
                <a16:creationId xmlns:a16="http://schemas.microsoft.com/office/drawing/2014/main" id="{E9CC446B-F763-48A1-8DFF-F4639D4A49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026" y="1958735"/>
            <a:ext cx="5547684" cy="2940529"/>
          </a:xfrm>
          <a:prstGeom prst="rect">
            <a:avLst/>
          </a:prstGeom>
        </p:spPr>
      </p:pic>
      <p:pic>
        <p:nvPicPr>
          <p:cNvPr id="4" name="Picture 3" descr="A diagram of a company&#10;&#10;AI-generated content may be incorrect.">
            <a:extLst>
              <a:ext uri="{FF2B5EF4-FFF2-40B4-BE49-F238E27FC236}">
                <a16:creationId xmlns:a16="http://schemas.microsoft.com/office/drawing/2014/main" id="{74C46572-E3AE-32AE-D92C-2804F5ED09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886" y="4868587"/>
            <a:ext cx="7059284" cy="1865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41241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55B4BE-B6D4-BC33-AE5A-E6C0F69082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B603C-D6FA-F765-61AF-A40232C02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400" b="1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F598A0-9032-1838-D1D7-BF9F8C5EF0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7451"/>
            <a:ext cx="10515600" cy="513686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1800" dirty="0">
                <a:ea typeface="+mn-lt"/>
                <a:cs typeface="+mn-lt"/>
              </a:rPr>
              <a:t>Davenport, T. H., Harris, J. G., &amp; Morison, R. (2010). </a:t>
            </a:r>
            <a:r>
              <a:rPr lang="en-US" sz="1800" i="1" dirty="0">
                <a:ea typeface="+mn-lt"/>
                <a:cs typeface="+mn-lt"/>
              </a:rPr>
              <a:t> Analytics at work: Smarter decisions, better results. </a:t>
            </a:r>
            <a:r>
              <a:rPr lang="en-US" sz="1800" dirty="0">
                <a:ea typeface="+mn-lt"/>
                <a:cs typeface="+mn-lt"/>
              </a:rPr>
              <a:t>Harvard Business Review Press. </a:t>
            </a:r>
            <a:endParaRPr lang="en-US" dirty="0"/>
          </a:p>
          <a:p>
            <a:pPr marL="0" indent="0">
              <a:buNone/>
            </a:pPr>
            <a:r>
              <a:rPr lang="en-US" sz="1800" dirty="0">
                <a:ea typeface="+mn-lt"/>
                <a:cs typeface="+mn-lt"/>
              </a:rPr>
              <a:t>Hill, K. (2012, February 16). </a:t>
            </a:r>
            <a:r>
              <a:rPr lang="en-US" sz="1800" i="1" dirty="0">
                <a:ea typeface="+mn-lt"/>
                <a:cs typeface="+mn-lt"/>
              </a:rPr>
              <a:t>How Target figured out a teen girl was pregnant before her dad did</a:t>
            </a:r>
            <a:r>
              <a:rPr lang="en-US" sz="1800" dirty="0">
                <a:ea typeface="+mn-lt"/>
                <a:cs typeface="+mn-lt"/>
              </a:rPr>
              <a:t>. Forbes. https://www.forbes.com/sites/kashmirhill/2012/02/16/how-target-figured-out-a-teen-girl-was-pregnant-before-her-father-did/</a:t>
            </a:r>
          </a:p>
          <a:p>
            <a:pPr marL="0" indent="0">
              <a:buNone/>
            </a:pPr>
            <a:r>
              <a:rPr lang="en-US" sz="1800" dirty="0">
                <a:ea typeface="+mn-lt"/>
                <a:cs typeface="+mn-lt"/>
              </a:rPr>
              <a:t>Mitra, S., &amp; Goel, A. (2024, July 24).</a:t>
            </a:r>
            <a:r>
              <a:rPr lang="en-US" sz="1800" i="1" dirty="0">
                <a:ea typeface="+mn-lt"/>
                <a:cs typeface="+mn-lt"/>
              </a:rPr>
              <a:t> Predictive modeling for availability of inventory</a:t>
            </a:r>
            <a:r>
              <a:rPr lang="en-US" sz="1800" dirty="0">
                <a:ea typeface="+mn-lt"/>
                <a:cs typeface="+mn-lt"/>
              </a:rPr>
              <a:t>. Target. </a:t>
            </a:r>
            <a:r>
              <a:rPr lang="en-US" sz="1800" dirty="0">
                <a:ea typeface="+mn-lt"/>
                <a:cs typeface="+mn-lt"/>
                <a:hlinkClick r:id="rId3"/>
              </a:rPr>
              <a:t>https://tech.target.com/blog/predictive-modeling-for-availability</a:t>
            </a:r>
            <a:endParaRPr lang="en-US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1800" err="1">
                <a:ea typeface="+mn-lt"/>
                <a:cs typeface="+mn-lt"/>
              </a:rPr>
              <a:t>Orgio</a:t>
            </a:r>
            <a:r>
              <a:rPr lang="en-US" sz="1800" dirty="0">
                <a:ea typeface="+mn-lt"/>
                <a:cs typeface="+mn-lt"/>
              </a:rPr>
              <a:t>. (2025, September 3). </a:t>
            </a:r>
            <a:r>
              <a:rPr lang="en-US" sz="1800" i="1" dirty="0">
                <a:ea typeface="+mn-lt"/>
                <a:cs typeface="+mn-lt"/>
              </a:rPr>
              <a:t>Data analytics and engineering</a:t>
            </a:r>
            <a:r>
              <a:rPr lang="en-US" sz="1800" dirty="0">
                <a:ea typeface="+mn-lt"/>
                <a:cs typeface="+mn-lt"/>
              </a:rPr>
              <a:t>. </a:t>
            </a:r>
            <a:r>
              <a:rPr lang="en-US" sz="1800" dirty="0">
                <a:ea typeface="+mn-lt"/>
                <a:cs typeface="+mn-lt"/>
                <a:hlinkClick r:id="rId4"/>
              </a:rPr>
              <a:t>https://theorg.com/org/target/teams/data-analytics-and-engineering</a:t>
            </a:r>
          </a:p>
          <a:p>
            <a:pPr>
              <a:buNone/>
            </a:pPr>
            <a:r>
              <a:rPr lang="en-US" sz="1800" dirty="0">
                <a:ea typeface="+mn-lt"/>
                <a:cs typeface="+mn-lt"/>
              </a:rPr>
              <a:t>Target. (2025a, May 15). </a:t>
            </a:r>
            <a:r>
              <a:rPr lang="en-US" sz="1800" i="1" dirty="0">
                <a:ea typeface="+mn-lt"/>
                <a:cs typeface="+mn-lt"/>
              </a:rPr>
              <a:t>Data sciences</a:t>
            </a:r>
            <a:r>
              <a:rPr lang="en-US" sz="1800" dirty="0">
                <a:ea typeface="+mn-lt"/>
                <a:cs typeface="+mn-lt"/>
              </a:rPr>
              <a:t>. </a:t>
            </a:r>
            <a:r>
              <a:rPr lang="en-US" sz="1800" dirty="0">
                <a:ea typeface="+mn-lt"/>
                <a:cs typeface="+mn-lt"/>
                <a:hlinkClick r:id="rId5"/>
              </a:rPr>
              <a:t>https://tech.target.com/teams/data-sciences</a:t>
            </a:r>
            <a:endParaRPr lang="en-US" sz="1800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800" dirty="0">
                <a:ea typeface="+mn-lt"/>
                <a:cs typeface="+mn-lt"/>
              </a:rPr>
              <a:t>Target. (2025b, October 6). </a:t>
            </a:r>
            <a:r>
              <a:rPr lang="en-US" sz="1800" i="1" dirty="0">
                <a:ea typeface="+mn-lt"/>
                <a:cs typeface="+mn-lt"/>
              </a:rPr>
              <a:t>Senior data scientist – digital fulfillment T+</a:t>
            </a:r>
            <a:r>
              <a:rPr lang="en-US" sz="1800" dirty="0">
                <a:ea typeface="+mn-lt"/>
                <a:cs typeface="+mn-lt"/>
              </a:rPr>
              <a:t>. </a:t>
            </a:r>
            <a:r>
              <a:rPr lang="en-US" sz="1800" dirty="0">
                <a:ea typeface="+mn-lt"/>
                <a:cs typeface="+mn-lt"/>
                <a:hlinkClick r:id="rId6"/>
              </a:rPr>
              <a:t>https://corporate.target.com/jobs/w85/08/senior-data-scientist-%E2%80%93-digital-fulfillment-t</a:t>
            </a:r>
            <a:endParaRPr lang="en-US"/>
          </a:p>
          <a:p>
            <a:pPr marL="0" indent="0">
              <a:buNone/>
            </a:pPr>
            <a:r>
              <a:rPr lang="en-US" sz="1800" dirty="0">
                <a:ea typeface="+mn-lt"/>
                <a:cs typeface="+mn-lt"/>
              </a:rPr>
              <a:t>Target. (2025c, October 2). </a:t>
            </a:r>
            <a:r>
              <a:rPr lang="en-US" sz="1800" i="1" dirty="0">
                <a:ea typeface="+mn-lt"/>
                <a:cs typeface="+mn-lt"/>
              </a:rPr>
              <a:t>Sr data scientist - stores and properties (applied ML, simulation</a:t>
            </a:r>
            <a:r>
              <a:rPr lang="en-US" sz="1800" dirty="0">
                <a:ea typeface="+mn-lt"/>
                <a:cs typeface="+mn-lt"/>
              </a:rPr>
              <a:t>). </a:t>
            </a:r>
            <a:r>
              <a:rPr lang="en-US" sz="1800" dirty="0">
                <a:ea typeface="+mn-lt"/>
                <a:cs typeface="+mn-lt"/>
                <a:hlinkClick r:id="rId7"/>
              </a:rPr>
              <a:t>https://corporate.target.com/jobs/w48/70/sr-data-scientist-stores-and-properties-applied-ml%2C-simulation</a:t>
            </a:r>
            <a:endParaRPr lang="en-US"/>
          </a:p>
          <a:p>
            <a:pPr marL="0" indent="0">
              <a:buNone/>
            </a:pPr>
            <a:r>
              <a:rPr lang="en-US" sz="1800" dirty="0">
                <a:ea typeface="+mn-lt"/>
                <a:cs typeface="+mn-lt"/>
              </a:rPr>
              <a:t>Thompson, B., Ramamurthy, N., &amp; Joshi, V. (2025, May 16). </a:t>
            </a:r>
            <a:r>
              <a:rPr lang="en-US" sz="1800" i="1" dirty="0">
                <a:ea typeface="+mn-lt"/>
                <a:cs typeface="+mn-lt"/>
              </a:rPr>
              <a:t>Creating certified datasets</a:t>
            </a:r>
            <a:r>
              <a:rPr lang="en-US" sz="1800" dirty="0">
                <a:ea typeface="+mn-lt"/>
                <a:cs typeface="+mn-lt"/>
              </a:rPr>
              <a:t>. https://tech.target.com/blog/creating-certified-datasets</a:t>
            </a:r>
          </a:p>
        </p:txBody>
      </p:sp>
    </p:spTree>
    <p:extLst>
      <p:ext uri="{BB962C8B-B14F-4D97-AF65-F5344CB8AC3E}">
        <p14:creationId xmlns:p14="http://schemas.microsoft.com/office/powerpoint/2010/main" val="32754700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1151</TotalTime>
  <Words>1547</Words>
  <Application>Microsoft Office PowerPoint</Application>
  <PresentationFormat>Widescreen</PresentationFormat>
  <Paragraphs>154</Paragraphs>
  <Slides>14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Aptos</vt:lpstr>
      <vt:lpstr>Aptos Display</vt:lpstr>
      <vt:lpstr>Arial</vt:lpstr>
      <vt:lpstr>Calibri</vt:lpstr>
      <vt:lpstr>Courier New</vt:lpstr>
      <vt:lpstr>Univers Condensed</vt:lpstr>
      <vt:lpstr>office theme</vt:lpstr>
      <vt:lpstr>PowerPoint Presentation</vt:lpstr>
      <vt:lpstr>Overview</vt:lpstr>
      <vt:lpstr>PowerPoint Presentation</vt:lpstr>
      <vt:lpstr>PowerPoint Presentation</vt:lpstr>
      <vt:lpstr>PowerPoint Presentation</vt:lpstr>
      <vt:lpstr>D- DATA</vt:lpstr>
      <vt:lpstr>E- ENTERPRISE</vt:lpstr>
      <vt:lpstr>L- LEADERSHIP</vt:lpstr>
      <vt:lpstr>T - TARGETS</vt:lpstr>
      <vt:lpstr>A- ANALYSTS</vt:lpstr>
      <vt:lpstr>PowerPoint Presentation</vt:lpstr>
      <vt:lpstr>Center-of-Excellence (COE)</vt:lpstr>
      <vt:lpstr>Center-of-Excellence (COE)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Ross Prater</dc:creator>
  <cp:lastModifiedBy>Ross Prater</cp:lastModifiedBy>
  <cp:revision>24</cp:revision>
  <dcterms:created xsi:type="dcterms:W3CDTF">2025-10-02T18:07:57Z</dcterms:created>
  <dcterms:modified xsi:type="dcterms:W3CDTF">2025-10-09T21:53:46Z</dcterms:modified>
</cp:coreProperties>
</file>